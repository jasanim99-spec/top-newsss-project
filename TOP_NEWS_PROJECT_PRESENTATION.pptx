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68580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43891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1C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C4E9B"/>
                </a:solidFill>
              </a:defRPr>
            </a:pPr>
            <a:r>
              <a:t>FINAL YEAR INTERNSHIP PROJECT PRESENTATION ·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6309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E41"/>
                </a:solidFill>
              </a:defRPr>
            </a:pPr>
            <a:r>
              <a:t>TOP NEWS PORTAL</a:t>
            </a:r>
          </a:p>
          <a:p>
            <a:pPr>
              <a:spcBef>
                <a:spcPts val="400"/>
              </a:spcBef>
              <a:defRPr sz="1400" b="1">
                <a:solidFill>
                  <a:srgbClr val="1C4E9B"/>
                </a:solidFill>
              </a:defRPr>
            </a:pPr>
            <a:r>
              <a:t>Full-Stack Digital Media &amp; Short-Video Streaming Platform with PostgreSQL</a:t>
            </a:r>
          </a:p>
          <a:p>
            <a:pPr>
              <a:spcBef>
                <a:spcPts val="400"/>
              </a:spcBef>
              <a:defRPr sz="1150">
                <a:solidFill>
                  <a:srgbClr val="111827"/>
                </a:solidFill>
              </a:defRPr>
            </a:pPr>
            <a:r>
              <a:t>Decoupled 3-tier architecture unifying news reading, vertical reels &amp; newsroom governance.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0955D"/>
                </a:solidFill>
              </a:defRPr>
            </a:pPr>
            <a:r>
              <a:t>✓ Live on Vercel CDN    ✓ Neon PostgreSQL 16    ✓ React 18 &amp; TypeScript 5.8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6309360" cy="24231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100" b="1">
                <a:solidFill>
                  <a:srgbClr val="1C4E9B"/>
                </a:solidFill>
              </a:defRPr>
            </a:pPr>
            <a:r>
              <a:t>STUDENT &amp; PROJECT PARTICULARS</a:t>
            </a:r>
          </a:p>
          <a:p>
            <a:pPr>
              <a:spcBef>
                <a:spcPts val="400"/>
              </a:spcBef>
              <a:defRPr sz="1300" b="1">
                <a:solidFill>
                  <a:srgbClr val="0F1E41"/>
                </a:solidFill>
              </a:defRPr>
            </a:pPr>
            <a:r>
              <a:t>Student: JASANI MEET PARESHBHAI   |   Enrollment: 23SE02ML077</a:t>
            </a:r>
          </a:p>
          <a:p>
            <a:pPr>
              <a:spcBef>
                <a:spcPts val="200"/>
              </a:spcBef>
              <a:defRPr sz="1150">
                <a:solidFill>
                  <a:srgbClr val="111827"/>
                </a:solidFill>
              </a:defRPr>
            </a:pPr>
            <a:r>
              <a:t>Degree: B.Tech Computer Science Engineering (ML &amp; AI) — Semester 7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Company Mentor: Ms. Priya Trivedi, Octfis Techno LLP, Surat (18 Weeks)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Institute Mentor: Mr. Rakesh Tanwar, Assistant Professor, School of Engineering</a:t>
            </a:r>
          </a:p>
          <a:p>
            <a:pPr>
              <a:spcBef>
                <a:spcPts val="300"/>
              </a:spcBef>
              <a:defRPr sz="1150" b="1">
                <a:solidFill>
                  <a:srgbClr val="0F1E41"/>
                </a:solidFill>
              </a:defRPr>
            </a:pPr>
            <a:r>
              <a:t>School of Engineering, P P Savani University, Surat, Gujarat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051560"/>
            <a:ext cx="40233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ge_52_img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234440"/>
            <a:ext cx="3657600" cy="1730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8120" y="3291840"/>
            <a:ext cx="3657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CORE DELIVERABLES AT A GLANCE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</a:defRPr>
            </a:pPr>
            <a:r>
              <a:t>• Decoupled 3-Tier Web Stack (Vite + Express + Neon DB)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</a:defRPr>
            </a:pPr>
            <a:r>
              <a:t>• Multi-Lingual Feeds (Gujarati &amp; English) + Voice Search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</a:defRPr>
            </a:pPr>
            <a:r>
              <a:t>• Mobile-First Vertical Video Reels Player (&lt;140ms buffer)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</a:defRPr>
            </a:pPr>
            <a:r>
              <a:t>• Newsroom Governance: Editorial Queue &amp; QR Press Passes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</a:defRPr>
            </a:pPr>
            <a:r>
              <a:t>• Native VAPID Web Push Alerts (&lt;1s delivery to browsers)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</a:defRPr>
            </a:pPr>
            <a:r>
              <a:t>• 100% Type-Safe TypeScript 5.8 &amp; Sub-65ms API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INTRODUCTION &amp;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Modern Digital Journalism Meets High-Performance Cloud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39111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The Enterprise Challenge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Database Lockups: Legacy PHP/WordPress sites suffer severe locks under breaking news.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High Latency: Monolithic server rendering causes slow response times (&gt;350ms).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Fragmented Content: Text news and short-video reels are trapped in separate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39111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4E9B"/>
                </a:solidFill>
              </a:defRPr>
            </a:pPr>
            <a:r>
              <a:t>The Decoupled 3-Tier Solution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Client SPAs: Dual React 18 &amp; Vite apps with TypeScript 5.8 static typing.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REST API Server: Node.js &amp; Express engine with pg.Pool connection pooling.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Cloud Database: ACID-compliant PostgreSQL 16 hosted on Neon Cloud.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5303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16552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Real-Time Media &amp; Push Engine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Vertical Video Reels: Swipeable mobile player for HTML5 MP4 &amp; YouTube Shorts.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Socket.IO Sync: Instant bi-directional live news updates across all reader tabs.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Native Web Push: Zero-cost browser alerts using cryptographic VAPID keypairs.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5303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416552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955D"/>
                </a:solidFill>
              </a:defRPr>
            </a:pPr>
            <a:r>
              <a:t>Internship &amp; Production Hosting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18-Week Full-Stack Internship: Carried out at Octfis Techno LLP, Surat.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100% Test Pass Rate: 36/36 automated &amp; manual scenarios thoroughly verified.</a:t>
            </a:r>
          </a:p>
          <a:p>
            <a:pPr>
              <a:spcBef>
                <a:spcPts val="500"/>
              </a:spcBef>
              <a:defRPr sz="1200">
                <a:solidFill>
                  <a:srgbClr val="111827"/>
                </a:solidFill>
              </a:defRPr>
            </a:pPr>
            <a:r>
              <a:t>• Live Cloud Deployment: Hosted on Vercel Edge CDN with verified &lt;65ms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PROBLEM STATEMENT &amp; INDUSTRY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Why Traditional Digital News Platforms &amp; CMS Fall Short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6766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6309360" cy="129844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75688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1. Monolithic SSR Overhead &amp; Latency Spikes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Legacy PHP/WordPress sites rebuild entire HTML pages on every request. Breaking news spikes trigger unindexed database locks and slow latencies (&gt;350ms).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10712"/>
            <a:ext cx="6309360" cy="129844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204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2. Fragmented Content &amp; Short-Video Workflows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Modern audiences demand vertical swipeable video reels. Traditional news sites isolate videos in external iframes without caching or view analytics.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55464"/>
            <a:ext cx="6309360" cy="129844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65192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41"/>
                </a:solidFill>
              </a:defRPr>
            </a:pPr>
            <a:r>
              <a:t>3. Inflexible Schemas &amp; Fragmented Newsroom Desks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NoSQL and document stores lack strict relational ACID integrity needed for multi-tier draft reviews, QR press passes, and reporter leave approval grids.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78308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192024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4E9B"/>
                </a:solidFill>
              </a:defRPr>
            </a:pPr>
            <a:r>
              <a:t>OPERATIONAL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331720"/>
            <a:ext cx="3749039" cy="1874519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Legacy Monolithic CMS (PHP/WordPress)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API Latency: 350 – 500 ms (high server load)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UI Stability: Full page reloads &amp; screen flickering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Video Reels: Third-party iframes, no tracking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Push Alerts: Slow third-party plugins (4–8s)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389120"/>
            <a:ext cx="3749039" cy="1965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10955D"/>
                </a:solidFill>
              </a:defRPr>
            </a:pPr>
            <a:r>
              <a:t>TOP NEWS Cloud Platform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API Latency: 65 ms average (28 ms indexed)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UI Stability: 100% Stable (React Query caching)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Video Reels: Integrated player with atomic SQL views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Push Alerts: 0.92 s native VAPID Web Push alerts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Reliability: Zero-flicker UI &amp; 0 TypeScript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Six Core Measurable Technical Goals Delivered &amp; 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094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103120"/>
            <a:ext cx="640080" cy="292608"/>
          </a:xfrm>
          <a:prstGeom prst="roundRect">
            <a:avLst/>
          </a:prstGeom>
          <a:solidFill>
            <a:srgbClr val="1C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756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Decoupled 3-Tier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96312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Independent React 18 / Vite SPAs &amp; Express REST API.</a:t>
            </a:r>
          </a:p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Serverless Neon PostgreSQL 16 with connection pooling.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96596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2103120"/>
            <a:ext cx="640080" cy="292608"/>
          </a:xfrm>
          <a:prstGeom prst="round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756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1-Click Hero Story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96312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Instant article promotion to homepage carousel.</a:t>
            </a:r>
          </a:p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Automated single-active reset &amp; Socket.IO real-time sync.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96596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64008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0756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CORS-Safe Short-Video Reels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496312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Vertical reels player for HTML5 MP4 &amp; YouTube Shorts.</a:t>
            </a:r>
          </a:p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Atomic SQL view counter increments on every video 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0624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343400"/>
            <a:ext cx="640080" cy="292608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315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Newsroom Editorial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36592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Role-based desks: Super Admin, Chief Editor &amp; Reporter.</a:t>
            </a:r>
          </a:p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Formal review queue with revision notes &amp; leave grid.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20624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26280" y="4343400"/>
            <a:ext cx="640080" cy="292608"/>
          </a:xfrm>
          <a:prstGeom prst="roundRect">
            <a:avLst/>
          </a:prstGeom>
          <a:solidFill>
            <a:srgbClr val="1C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315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Digital Press Card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736592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Dynamic HTML5 Canvas produces 2x retina press passes.</a:t>
            </a:r>
          </a:p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Live QR code verifies reporter credentials in public.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20624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343400"/>
            <a:ext cx="640080" cy="292608"/>
          </a:xfrm>
          <a:prstGeom prst="round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315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Web Push &amp; Ad Monetization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36592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VAPID crypto-signed breaking news alerts in &lt;1 second.</a:t>
            </a:r>
          </a:p>
          <a:p>
            <a:pPr>
              <a:spcBef>
                <a:spcPts val="300"/>
              </a:spcBef>
              <a:defRPr sz="1150">
                <a:solidFill>
                  <a:srgbClr val="111827"/>
                </a:solidFill>
              </a:defRPr>
            </a:pPr>
            <a:r>
              <a:t>• Banner ad manager with active/pending status &amp; click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TECHNOLOGY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Decoupled 3-Tier Enterprise Architecture: Scalable, Fast &amp; Secure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094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3474720" cy="43434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84831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4E9B"/>
                </a:solidFill>
              </a:defRPr>
            </a:pPr>
            <a:r>
              <a:t>Presentation Layer (Client SPAs)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560320"/>
            <a:ext cx="314553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React 18.3 &amp; Vite 5.4: Sub-second HMR &amp; optimized client bundle.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TypeScript 5.8: 100% static type safety (0 build errors verified).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Tailwind CSS 3.4: Utility styling, glassmorphism cards &amp; dark mode.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TanStack React Query v5: Stale-while-revalidate caching (no flicker).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HTML5 Canvas &amp; Web Speech: Native voice search &amp; QR press cards.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965960"/>
            <a:ext cx="3474720" cy="43434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084831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41"/>
                </a:solidFill>
              </a:defRPr>
            </a:pPr>
            <a:r>
              <a:t>Application Layer (Express Engine)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560320"/>
            <a:ext cx="314553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Node.js 20 &amp; Express 4.19: High-concurrency RESTful API engine.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Socket.IO v4.8: Live WebSocket broadcasting across all tabs.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VAPID Web Push: Instant push notification dispatches (&lt;1s delivery).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Firebase JWT Auth: Secure Bearer tokens &amp; role route guards.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Process Launcher: Custom start.js orchestrates all 3 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3474720" cy="43434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084831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955D"/>
                </a:solidFill>
              </a:defRPr>
            </a:pPr>
            <a:r>
              <a:t>Persistence &amp; Cloud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560320"/>
            <a:ext cx="314553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Neon PostgreSQL 16: Serverless database with SSL connection pooling.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pg.Pool: Handles 500+ concurrent connections without exhaustion.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B-Tree Indexing: Achieves sub-28ms queries on slug, category &amp; status.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9 Normalized Tables: Strict ACID compliance &amp; zero data drift.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• Firebase Storage CDN: High-speed edge CDN for images &amp; MP4 reels.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PROCESS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From News Drafting &amp; Review to Instant Live Broadcasting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_40_img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874519"/>
            <a:ext cx="393192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053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Figure 6.2: Final Editorial Workflow &amp; Deterministic State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783080"/>
            <a:ext cx="5608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202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E41"/>
                </a:solidFill>
              </a:defRPr>
            </a:pPr>
            <a:r>
              <a:t>EXECUTION PIPELINE (4 Key Steps)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31720"/>
            <a:ext cx="5120640" cy="8686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8658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4E9B"/>
                </a:solidFill>
              </a:defRPr>
            </a:pPr>
            <a:r>
              <a:t>Step 1: Reporter Draft Submission</a:t>
            </a:r>
          </a:p>
          <a:p>
            <a:pPr>
              <a:spcBef>
                <a:spcPts val="200"/>
              </a:spcBef>
              <a:defRPr sz="1150">
                <a:solidFill>
                  <a:srgbClr val="111827"/>
                </a:solidFill>
              </a:defRPr>
            </a:pPr>
            <a:r>
              <a:t>Field journalist composes news using Formik/Yup editor, tags categories, and uploads cover media to Firebase CDN (status: 'pending').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91840"/>
            <a:ext cx="5120640" cy="8686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4670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Step 2: Editorial Review &amp; Decision</a:t>
            </a:r>
          </a:p>
          <a:p>
            <a:pPr>
              <a:spcBef>
                <a:spcPts val="200"/>
              </a:spcBef>
              <a:defRPr sz="1150">
                <a:solidFill>
                  <a:srgbClr val="111827"/>
                </a:solidFill>
              </a:defRPr>
            </a:pPr>
            <a:r>
              <a:t>Chief Editor inspects draft from pending queue, attaches revision notes, or approves article via secure JWT admin endpoint.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251960"/>
            <a:ext cx="5120640" cy="8686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0682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955D"/>
                </a:solidFill>
              </a:defRPr>
            </a:pPr>
            <a:r>
              <a:t>Step 3: Database Commit &amp; Indexing</a:t>
            </a:r>
          </a:p>
          <a:p>
            <a:pPr>
              <a:spcBef>
                <a:spcPts val="200"/>
              </a:spcBef>
              <a:defRPr sz="1150">
                <a:solidFill>
                  <a:srgbClr val="111827"/>
                </a:solidFill>
              </a:defRPr>
            </a:pPr>
            <a:r>
              <a:t>PostgreSQL 16 atomically updates status to 'published' and updates B-Tree indexes in under 28ms without table locks.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212080"/>
            <a:ext cx="5120640" cy="8686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6694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Step 4: Real-Time Sync &amp; Web Push</a:t>
            </a:r>
          </a:p>
          <a:p>
            <a:pPr>
              <a:spcBef>
                <a:spcPts val="200"/>
              </a:spcBef>
              <a:defRPr sz="1150">
                <a:solidFill>
                  <a:srgbClr val="111827"/>
                </a:solidFill>
              </a:defRPr>
            </a:pPr>
            <a:r>
              <a:t>Socket.IO synchronizes public news feeds across open tabs instantly, while VAPID Web Push alerts subscribers in under 1 second.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SYSTEM ANALYSIS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Relational Schema Modeling &amp; Cloud Infrastructure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_39_img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0240"/>
            <a:ext cx="5852160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0350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Figure 6.1: Final 3-Tier Cloud System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783080"/>
            <a:ext cx="46936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1965960"/>
            <a:ext cx="4327855" cy="1353312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05740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4E9B"/>
                </a:solidFill>
              </a:defRPr>
            </a:pPr>
            <a:r>
              <a:t>9 Relational Tables (ACID)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Normalized schemas for users, news, videos, ads, leaves &amp; push.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Strict foreign keys (ON DELETE CASCADE) prevent data drift.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429000"/>
            <a:ext cx="4327855" cy="1353312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52044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955D"/>
                </a:solidFill>
              </a:defRPr>
            </a:pPr>
            <a:r>
              <a:t>Secondary B-Tree Indexing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Applied to slug, category, status, and published_at DESC.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Reduced database query latency by &gt;90% (from 320ms to 28ms).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892040"/>
            <a:ext cx="4327855" cy="1353312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98348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41"/>
                </a:solidFill>
              </a:defRPr>
            </a:pPr>
            <a:r>
              <a:t>Atomic Operations &amp; Caching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Atomic SQL view counter (views = views + 1) prevents race conditions.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TanStack React Query placeholder caching eliminates UI flickering.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SYSTEM IN ACTION: CONSUMER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Public News Web Portal &amp; High-Speed Short-Video Reels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41"/>
                </a:solidFill>
              </a:defRPr>
            </a:pPr>
            <a:r>
              <a:t>Public News Portal &amp; Voice Search</a:t>
            </a:r>
          </a:p>
        </p:txBody>
      </p:sp>
      <p:pic>
        <p:nvPicPr>
          <p:cNvPr id="12" name="Picture 11" descr="page_52_img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40280"/>
            <a:ext cx="502920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827"/>
                </a:solidFill>
              </a:defRPr>
            </a:pPr>
            <a:r>
              <a:t>• Multi-Lingual Feeds: Native Gujarati (gu) &amp; English (en) with live tickers.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Voice Search: Browser HTML5 Web Speech API converts speech to query text.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Zero UI Flicker: TanStack React Query serves instant cached articles.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41"/>
                </a:solidFill>
              </a:defRPr>
            </a:pPr>
            <a:r>
              <a:t>Short-Video Reels Streamer</a:t>
            </a:r>
          </a:p>
        </p:txBody>
      </p:sp>
      <p:pic>
        <p:nvPicPr>
          <p:cNvPr id="16" name="Picture 15" descr="page_72_img_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240280"/>
            <a:ext cx="2453316" cy="23774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827"/>
                </a:solidFill>
              </a:defRPr>
            </a:pPr>
            <a:r>
              <a:t>• Mobile-First Player: Supports HTML5 MP4 &amp; YouTube Shorts embeds.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Buffer-Free Playback: &lt;140ms startup latency with swipe gesture controls.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Atomic SQL Views: Auto-increments view counts logged directly to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SYSTEM IN ACTION: NEWSROOM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Chief Editor Control Desk &amp; Accredited Reporter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41"/>
                </a:solidFill>
              </a:defRPr>
            </a:pPr>
            <a:r>
              <a:t>Chief Editor &amp; Admin Control Console</a:t>
            </a:r>
          </a:p>
        </p:txBody>
      </p:sp>
      <p:pic>
        <p:nvPicPr>
          <p:cNvPr id="12" name="Picture 11" descr="page_53_img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40280"/>
            <a:ext cx="502920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827"/>
                </a:solidFill>
              </a:defRPr>
            </a:pPr>
            <a:r>
              <a:t>• Editorial Review: 1-click approvals, hero story toggles &amp; revision feedback.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Ad Campaign Manager: Approves client banner ads with live click tracking.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Push Broadcast Center: Dispatches instant VAPID alerts to subscribers.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41"/>
                </a:solidFill>
              </a:defRPr>
            </a:pPr>
            <a:r>
              <a:t>Field Reporter Desk &amp; Digital Press Card</a:t>
            </a:r>
          </a:p>
        </p:txBody>
      </p:sp>
      <p:pic>
        <p:nvPicPr>
          <p:cNvPr id="16" name="Picture 15" descr="page_73_img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240280"/>
            <a:ext cx="5029200" cy="23774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827"/>
                </a:solidFill>
              </a:defRPr>
            </a:pPr>
            <a:r>
              <a:t>• Verifiable Press ID: HTML5 Canvas 2x retina pass with scannable QR code.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Leave Applications: 4-column leave grid with 1-click editor approval status.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• Monthly Goals: Tracks articles submitted versus total readership reach.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RESULTS &amp;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Tested in Code, Validated in Production Benchmark Audits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955D"/>
                </a:solidFill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111827"/>
                </a:solidFill>
              </a:defRPr>
            </a:pPr>
            <a:r>
              <a:t>Automated Tests Passed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36 / 36 Test Cases 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78308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288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C4E9B"/>
                </a:solidFill>
              </a:defRPr>
            </a:pPr>
            <a:r>
              <a:t>65 ms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111827"/>
                </a:solidFill>
              </a:defRPr>
            </a:pPr>
            <a:r>
              <a:t>Avg API Response Latency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28 ms on Indexed Lookups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8288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E41"/>
                </a:solidFill>
              </a:defRPr>
            </a:pPr>
            <a:r>
              <a:t>0.92 s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111827"/>
                </a:solidFill>
              </a:defRPr>
            </a:pPr>
            <a:r>
              <a:t>Web Push Dispatch Speed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VAPID Browser Delivery (&lt;1s)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78308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8288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95 / 100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111827"/>
                </a:solidFill>
              </a:defRPr>
            </a:pPr>
            <a:r>
              <a:t>Google Lighthouse UX Score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Zero Mobile Horizontal Overflow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11094415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01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41"/>
                </a:solidFill>
              </a:defRPr>
            </a:pPr>
            <a:r>
              <a:t>TESTING &amp; VALIDATION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10637215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3989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4E9B"/>
                </a:solidFill>
              </a:defRPr>
            </a:pPr>
            <a:r>
              <a:t>✔ Unit &amp; Module Testing (100% Pass): </a:t>
            </a:r>
            <a:r>
              <a:rPr sz="1150" b="0">
                <a:solidFill>
                  <a:srgbClr val="111827"/>
                </a:solidFill>
              </a:rPr>
              <a:t>Validated Formik/Yup validation, Web Speech dictation hook, Canvas 2x QR generator, and client JPEG compression fallbacks.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61688"/>
            <a:ext cx="10637215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9826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5D"/>
                </a:solidFill>
              </a:defRPr>
            </a:pPr>
            <a:r>
              <a:t>✔ Concurrency Load Testing: </a:t>
            </a:r>
            <a:r>
              <a:rPr sz="1150" b="0">
                <a:solidFill>
                  <a:srgbClr val="111827"/>
                </a:solidFill>
              </a:rPr>
              <a:t>Sustained 500 concurrent read requests maintaining 65ms avg latency with 0% connection drops via PostgreSQL connection pooling.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20056"/>
            <a:ext cx="10637215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5663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41"/>
                </a:solidFill>
              </a:defRPr>
            </a:pPr>
            <a:r>
              <a:t>✔ Static TypeScript Audit: </a:t>
            </a:r>
            <a:r>
              <a:rPr sz="1150" b="0">
                <a:solidFill>
                  <a:srgbClr val="111827"/>
                </a:solidFill>
              </a:rPr>
              <a:t>0 compilation errors across entire monorepo verified via npx tsc --noEmit for guaranteed runtime type safety.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678424"/>
            <a:ext cx="10637215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✔ Security &amp; Role Isolation: </a:t>
            </a:r>
            <a:r>
              <a:rPr sz="1150" b="0">
                <a:solidFill>
                  <a:srgbClr val="111827"/>
                </a:solidFill>
              </a:rPr>
              <a:t>Strict role route guards (Admin vs Reporter), SQL injection immunity via parameterized queries, CORS headers, and VAPID key signing.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LAUNCHED &amp; OPERATIONAL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Live on Vercel Cloud CDN &amp; Neon Managed 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6858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E41"/>
                </a:solidFill>
              </a:defRPr>
            </a:pPr>
            <a:r>
              <a:t>Enterprise Digital Media Publishing &amp; Streaming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68880"/>
            <a:ext cx="6400800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05456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4E9B"/>
                </a:solidFill>
              </a:defRPr>
            </a:pPr>
            <a:r>
              <a:t>• Cloud Platform: </a:t>
            </a:r>
            <a:r>
              <a:rPr sz="1150" b="0">
                <a:solidFill>
                  <a:srgbClr val="111827"/>
                </a:solidFill>
              </a:rPr>
              <a:t>Vercel Serverless Edge CDN with automated CI/CD from GitHub monorepo.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27248"/>
            <a:ext cx="6400800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6382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4E9B"/>
                </a:solidFill>
              </a:defRPr>
            </a:pPr>
            <a:r>
              <a:t>• Database Backend: </a:t>
            </a:r>
            <a:r>
              <a:rPr sz="1150" b="0">
                <a:solidFill>
                  <a:srgbClr val="111827"/>
                </a:solidFill>
              </a:rPr>
              <a:t>Managed Neon Cloud PostgreSQL 16 with SSL pooling &amp; B-Tree indexes.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85616"/>
            <a:ext cx="6400800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4E9B"/>
                </a:solidFill>
              </a:defRPr>
            </a:pPr>
            <a:r>
              <a:t>• Real-Time Engine: </a:t>
            </a:r>
            <a:r>
              <a:rPr sz="1150" b="0">
                <a:solidFill>
                  <a:srgbClr val="111827"/>
                </a:solidFill>
              </a:rPr>
              <a:t>Socket.IO v4.8 WebSockets on Port 3000 &amp; native W3C Web Push alerts.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43984"/>
            <a:ext cx="6400800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4E9B"/>
                </a:solidFill>
              </a:defRPr>
            </a:pPr>
            <a:r>
              <a:t>• Evaluation Ready: </a:t>
            </a:r>
            <a:r>
              <a:rPr sz="1150" b="0">
                <a:solidFill>
                  <a:srgbClr val="111827"/>
                </a:solidFill>
              </a:rPr>
              <a:t>Active accounts configured for Super Admin, Chief Editor, &amp; Reporter testing.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02352"/>
            <a:ext cx="6400800" cy="585216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3892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4E9B"/>
                </a:solidFill>
              </a:defRPr>
            </a:pPr>
            <a:r>
              <a:t>• Monorepo Launcher: </a:t>
            </a:r>
            <a:r>
              <a:rPr sz="1150" b="0">
                <a:solidFill>
                  <a:srgbClr val="111827"/>
                </a:solidFill>
              </a:rPr>
              <a:t>Single command (node start.js) concurrently launches all 3 tiers.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806440"/>
            <a:ext cx="6400800" cy="5943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1C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41"/>
                </a:solidFill>
              </a:defRPr>
            </a:pPr>
            <a:r>
              <a:t>🌐 Repository: https://github.com/jasanim99-spec/top-newsss-project.git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783080"/>
            <a:ext cx="40078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1965960"/>
            <a:ext cx="3642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4E9B"/>
                </a:solidFill>
              </a:defRPr>
            </a:pPr>
            <a:r>
              <a:t>SCAN FOR REPOSITORY</a:t>
            </a:r>
          </a:p>
        </p:txBody>
      </p:sp>
      <p:pic>
        <p:nvPicPr>
          <p:cNvPr id="25" name="Picture 24" descr="github_repo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468880"/>
            <a:ext cx="2651760" cy="2651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18120" y="5303520"/>
            <a:ext cx="36420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64748B"/>
                </a:solidFill>
              </a:defRPr>
            </a:pPr>
            <a:r>
              <a:t>Scan with smartphone camera to access source code, documentation &amp; live deployments.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ENGINEERING CHALLENGES &amp;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Technical Obstacles Overcome During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094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521208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75688"/>
            <a:ext cx="4846320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1. Dual-DB Fallback &amp; UI Flickering</a:t>
            </a:r>
          </a:p>
          <a:p>
            <a:pPr>
              <a:spcBef>
                <a:spcPts val="300"/>
              </a:spcBef>
              <a:defRPr sz="1100">
                <a:solidFill>
                  <a:srgbClr val="DC2626"/>
                </a:solidFill>
              </a:defRPr>
            </a:pPr>
            <a:r>
              <a:t>• Problem: Stale Firestore fallback caused admin dashboard flickering.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Solution: Designated PostgreSQL 16 as single source of truth + React Query.</a:t>
            </a:r>
          </a:p>
          <a:p>
            <a:pPr>
              <a:spcBef>
                <a:spcPts val="300"/>
              </a:spcBef>
              <a:defRPr sz="1150" b="1">
                <a:solidFill>
                  <a:srgbClr val="10955D"/>
                </a:solidFill>
              </a:defRPr>
            </a:pPr>
            <a:r>
              <a:t>✔ Result: 100% stable, zero-flicker UI during background refetches.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75688"/>
            <a:ext cx="4846320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2. Field Media Upload Timeouts</a:t>
            </a:r>
          </a:p>
          <a:p>
            <a:pPr>
              <a:spcBef>
                <a:spcPts val="300"/>
              </a:spcBef>
              <a:defRPr sz="1100">
                <a:solidFill>
                  <a:srgbClr val="DC2626"/>
                </a:solidFill>
              </a:defRPr>
            </a:pPr>
            <a:r>
              <a:t>• Problem: Large camera photos (&gt;5MB) timed out over weak 3G/4G connections.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Solution: Developed client-side JPEG compression in storageService.ts.</a:t>
            </a:r>
          </a:p>
          <a:p>
            <a:pPr>
              <a:spcBef>
                <a:spcPts val="300"/>
              </a:spcBef>
              <a:defRPr sz="1150" b="1">
                <a:solidFill>
                  <a:srgbClr val="10955D"/>
                </a:solidFill>
              </a:defRPr>
            </a:pPr>
            <a:r>
              <a:t>✔ Result: Reduced payload by ~80% &amp; eliminated mobile upload timeouts.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06240"/>
            <a:ext cx="521208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15968"/>
            <a:ext cx="4846320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3. Cross-Tab View Counter Desync</a:t>
            </a:r>
          </a:p>
          <a:p>
            <a:pPr>
              <a:spcBef>
                <a:spcPts val="300"/>
              </a:spcBef>
              <a:defRPr sz="1100">
                <a:solidFill>
                  <a:srgbClr val="DC2626"/>
                </a:solidFill>
              </a:defRPr>
            </a:pPr>
            <a:r>
              <a:t>• Problem: Rapid concurrent clicks produced inconsistent view counts.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Solution: Implemented atomic SQL updates (views = views + 1) + Socket.IO.</a:t>
            </a:r>
          </a:p>
          <a:p>
            <a:pPr>
              <a:spcBef>
                <a:spcPts val="300"/>
              </a:spcBef>
              <a:defRPr sz="1150" b="1">
                <a:solidFill>
                  <a:srgbClr val="10955D"/>
                </a:solidFill>
              </a:defRPr>
            </a:pPr>
            <a:r>
              <a:t>✔ Result: Accurate real-time view counts synchronized across open client tabs.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06240"/>
            <a:ext cx="521208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315968"/>
            <a:ext cx="4846320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4. Multi-Service Startup Conflicts</a:t>
            </a:r>
          </a:p>
          <a:p>
            <a:pPr>
              <a:spcBef>
                <a:spcPts val="300"/>
              </a:spcBef>
              <a:defRPr sz="1100">
                <a:solidFill>
                  <a:srgbClr val="DC2626"/>
                </a:solidFill>
              </a:defRPr>
            </a:pPr>
            <a:r>
              <a:t>• Problem: Running 3 separate servers manually caused port collisions and crashes.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• Solution: Built custom start.js orchestrator using child_process.spawn.</a:t>
            </a:r>
          </a:p>
          <a:p>
            <a:pPr>
              <a:spcBef>
                <a:spcPts val="300"/>
              </a:spcBef>
              <a:defRPr sz="1150" b="1">
                <a:solidFill>
                  <a:srgbClr val="10955D"/>
                </a:solidFill>
              </a:defRPr>
            </a:pPr>
            <a:r>
              <a:t>✔ Result: Single-command startup with centralized lifecycle management.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FUTURE SCOPE &amp;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Where TOP NEWS Goes Next: Scalability &amp; Expansion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094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103120"/>
            <a:ext cx="640080" cy="292608"/>
          </a:xfrm>
          <a:prstGeom prst="roundRect">
            <a:avLst/>
          </a:prstGeom>
          <a:solidFill>
            <a:srgbClr val="1C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756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Native Mobile Apps (React Native)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320040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111827"/>
                </a:solidFill>
              </a:defRPr>
            </a:pPr>
            <a:r>
              <a:t>Compile cross-platform iOS and Android binaries reusing Express REST APIs, with native APNs/FCM push channels.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96596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2103120"/>
            <a:ext cx="640080" cy="292608"/>
          </a:xfrm>
          <a:prstGeom prst="round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756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Redis In-Memory Caching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14600"/>
            <a:ext cx="320040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111827"/>
                </a:solidFill>
              </a:defRPr>
            </a:pPr>
            <a:r>
              <a:t>Introduce Redis cache with event-driven invalidation to reduce trending feed query latency to sub-5ms.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96596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64008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0756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Neural Text-to-Speech (TTS)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514600"/>
            <a:ext cx="320040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111827"/>
                </a:solidFill>
              </a:defRPr>
            </a:pPr>
            <a:r>
              <a:t>Automatically generate regional audio news podcasts in Gujarati and Hindi for hands-free listening.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0624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343400"/>
            <a:ext cx="640080" cy="292608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315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Offline-First PWA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320040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111827"/>
                </a:solidFill>
              </a:defRPr>
            </a:pPr>
            <a:r>
              <a:t>Deploy comprehensive offline reading with IndexedDB persistence and Google Workbox service workers.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20624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26280" y="4343400"/>
            <a:ext cx="640080" cy="292608"/>
          </a:xfrm>
          <a:prstGeom prst="roundRect">
            <a:avLst/>
          </a:prstGeom>
          <a:solidFill>
            <a:srgbClr val="1C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315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Automated AI Newsroom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754880"/>
            <a:ext cx="320040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111827"/>
                </a:solidFill>
              </a:defRPr>
            </a:pPr>
            <a:r>
              <a:t>Integrate LLMs for automated article summarization, duplicate detection, and content moderation.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206240"/>
            <a:ext cx="3474720" cy="2084831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343400"/>
            <a:ext cx="640080" cy="292608"/>
          </a:xfrm>
          <a:prstGeom prst="round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315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41"/>
                </a:solidFill>
              </a:defRPr>
            </a:pPr>
            <a:r>
              <a:t>Hyper-Local Citizen Journalism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54880"/>
            <a:ext cx="320040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111827"/>
                </a:solidFill>
              </a:defRPr>
            </a:pPr>
            <a:r>
              <a:t>Launch an eyewitness news tip portal with geo-location tags and programmatic ad exchanges.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"/>
            <a:ext cx="3000103" cy="594360"/>
          </a:xfrm>
          <a:prstGeom prst="rect">
            <a:avLst/>
          </a:prstGeom>
        </p:spPr>
      </p:pic>
      <p:pic>
        <p:nvPicPr>
          <p:cNvPr id="5" name="Picture 4" descr="page_0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9728"/>
            <a:ext cx="188711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68096"/>
            <a:ext cx="12191695" cy="13716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59536"/>
            <a:ext cx="11094415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4E9B"/>
                </a:solidFill>
              </a:defRPr>
            </a:pPr>
            <a:r>
              <a:t>P P SAVANI UNIVERSITY  ·  SCHOOL OF ENGINEERING  ·  FINAL INTERNSHIP PRESENTATION (2026–27)  |  SLIDE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E41"/>
                </a:solidFill>
              </a:defRPr>
            </a:pPr>
            <a:r>
              <a:t>CONCLUSION &amp;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94415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Modernizing Digital Media with High-Performance Full-Stack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6858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6400800" cy="102412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39112"/>
            <a:ext cx="6126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4E9B"/>
                </a:solidFill>
              </a:defRPr>
            </a:pPr>
            <a:r>
              <a:t>High-Speed Decoupled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111827"/>
                </a:solidFill>
              </a:defRPr>
            </a:pPr>
            <a:r>
              <a:t>Replaced legacy monolithic CMS bottlenecks with React 18, Node.js Express, and Neon PostgreSQL 16, delivering sub-65ms API speeds and zero UI flicker.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81528"/>
            <a:ext cx="6400800" cy="102412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6126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955D"/>
                </a:solidFill>
              </a:defRPr>
            </a:pPr>
            <a:r>
              <a:t>Integrated Newsroom Governance</a:t>
            </a:r>
          </a:p>
          <a:p>
            <a:pPr>
              <a:spcBef>
                <a:spcPts val="300"/>
              </a:spcBef>
              <a:defRPr sz="1200">
                <a:solidFill>
                  <a:srgbClr val="111827"/>
                </a:solidFill>
              </a:defRPr>
            </a:pPr>
            <a:r>
              <a:t>Unified multi-lingual publishing, short-video reels, editorial review queues, dynamic QR press cards, and commercial ad tracking into one cohesive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6400800" cy="102412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6126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E41"/>
                </a:solidFill>
              </a:defRPr>
            </a:pPr>
            <a:r>
              <a:t>Production-Ready &amp; Fully Verified</a:t>
            </a:r>
          </a:p>
          <a:p>
            <a:pPr>
              <a:spcBef>
                <a:spcPts val="300"/>
              </a:spcBef>
              <a:defRPr sz="1200">
                <a:solidFill>
                  <a:srgbClr val="111827"/>
                </a:solidFill>
              </a:defRPr>
            </a:pPr>
            <a:r>
              <a:t>Achieved 100% test pass rate across 36 scenarios, 0 TypeScript compilation errors (tsc --noEmit), and live production deployment on Vercel Edge CDN.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440680"/>
            <a:ext cx="6400800" cy="86868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1C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41"/>
                </a:solidFill>
              </a:defRPr>
            </a:pPr>
            <a:r>
              <a:t>GitHub Repository: https://github.com/jasanim99-spec/top-newsss-project.git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Active Ports: Consumer Portal (:8080)  ·  Admin Console (:5173)  ·  Backend API (:3000)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783080"/>
            <a:ext cx="40078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965960"/>
            <a:ext cx="36420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E41"/>
                </a:solidFill>
              </a:defRPr>
            </a:pPr>
            <a:r>
              <a:t>THANK YOU!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1C4E9B"/>
                </a:solidFill>
              </a:defRPr>
            </a:pPr>
            <a:r>
              <a:t>Questions &amp; Technical Discussion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017520"/>
            <a:ext cx="3642055" cy="329184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1C4E9B"/>
                </a:solidFill>
              </a:defRPr>
            </a:pPr>
            <a:r>
              <a:t>CANDIDATE &amp; MENTOR DETAILS</a:t>
            </a:r>
          </a:p>
          <a:p>
            <a:pPr>
              <a:spcBef>
                <a:spcPts val="400"/>
              </a:spcBef>
              <a:defRPr sz="1400" b="1">
                <a:solidFill>
                  <a:srgbClr val="0F1E41"/>
                </a:solidFill>
              </a:defRPr>
            </a:pPr>
            <a:r>
              <a:t>Jasani Meet Pareshbhai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</a:defRPr>
            </a:pPr>
            <a:r>
              <a:t>Enrollment: 23SE02ML077</a:t>
            </a:r>
            <a:br/>
            <a:r>
              <a:t>Branch: B.Tech CSE (ML &amp; AI), Sem 7</a:t>
            </a:r>
            <a:br/>
            <a:r>
              <a:t>School of Engineering, P P Savani University</a:t>
            </a:r>
          </a:p>
          <a:p>
            <a:pPr>
              <a:spcBef>
                <a:spcPts val="500"/>
              </a:spcBef>
              <a:defRPr sz="1050">
                <a:solidFill>
                  <a:srgbClr val="64748B"/>
                </a:solidFill>
              </a:defRPr>
            </a:pPr>
            <a:r>
              <a:t>Industry Mentor:</a:t>
            </a:r>
            <a:br/>
            <a:r>
              <a:t>Ms. Priya Trivedi, Octfis Techno LLP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Institute Mentor:</a:t>
            </a:r>
            <a:br/>
            <a:r>
              <a:t>Mr. Rakesh Tanwar, Assistant Professor, PPSU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